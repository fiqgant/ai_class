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35" autoAdjust="0"/>
    <p:restoredTop sz="96210" autoAdjust="0"/>
  </p:normalViewPr>
  <p:slideViewPr>
    <p:cSldViewPr snapToGrid="0">
      <p:cViewPr>
        <p:scale>
          <a:sx n="110" d="100"/>
          <a:sy n="110" d="100"/>
        </p:scale>
        <p:origin x="696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10" d="100"/>
          <a:sy n="110" d="100"/>
        </p:scale>
        <p:origin x="-1668" y="145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1B989-DC3F-4082-9D3D-9304510B7A34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A5531-ADC9-4F83-8F2B-13195D9F12F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FA5531-ADC9-4F83-8F2B-13195D9F12F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7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3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4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5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08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2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4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4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3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2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E8175-0BE9-423A-8761-E1DB6838AC93}" type="datetimeFigureOut">
              <a:rPr lang="en-US" smtClean="0"/>
              <a:pPr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F860F-3FF5-402A-9308-24FA84B3FB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8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77850" y="54592"/>
            <a:ext cx="110363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ID" sz="1400" b="1" dirty="0"/>
              <a:t>LEARNING OUTCOME: MAHASISWA MEMILIKI KETERAMPILAN PRAKTIS UNTUK MENGANALISIS, MENGEVALUASI, DAN MEMBANGUN FITUR CERDAS BERBASIS AI MENGGUNAKAN PYTHON DAN SCIKIT-LEARN LALU MENGINTEGRASIKANNYA KE PROTOTIPE APLIKASI TRPL SECARA ETIS DAN TERUKUR.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61113" y="0"/>
            <a:ext cx="430887" cy="6858000"/>
          </a:xfrm>
          <a:prstGeom prst="rect">
            <a:avLst/>
          </a:prstGeom>
        </p:spPr>
        <p:txBody>
          <a:bodyPr vert="vert" wrap="square">
            <a:spAutoFit/>
          </a:bodyPr>
          <a:lstStyle/>
          <a:p>
            <a:pPr algn="ctr" defTabSz="685800">
              <a:defRPr/>
            </a:pPr>
            <a:r>
              <a:rPr lang="en-ID" sz="1600" b="1" i="1" dirty="0"/>
              <a:t>MATA KULIAH: MACHINE LEARNING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DF7C5F-6411-0461-FD07-E8E4F3E0C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815662"/>
              </p:ext>
            </p:extLst>
          </p:nvPr>
        </p:nvGraphicFramePr>
        <p:xfrm>
          <a:off x="308622" y="577812"/>
          <a:ext cx="11379010" cy="6553062"/>
        </p:xfrm>
        <a:graphic>
          <a:graphicData uri="http://schemas.openxmlformats.org/drawingml/2006/table">
            <a:tbl>
              <a:tblPr firstRow="1" bandRow="1"/>
              <a:tblGrid>
                <a:gridCol w="648596">
                  <a:extLst>
                    <a:ext uri="{9D8B030D-6E8A-4147-A177-3AD203B41FA5}">
                      <a16:colId xmlns:a16="http://schemas.microsoft.com/office/drawing/2014/main" val="1756449556"/>
                    </a:ext>
                  </a:extLst>
                </a:gridCol>
                <a:gridCol w="725633">
                  <a:extLst>
                    <a:ext uri="{9D8B030D-6E8A-4147-A177-3AD203B41FA5}">
                      <a16:colId xmlns:a16="http://schemas.microsoft.com/office/drawing/2014/main" val="2204286740"/>
                    </a:ext>
                  </a:extLst>
                </a:gridCol>
                <a:gridCol w="924437">
                  <a:extLst>
                    <a:ext uri="{9D8B030D-6E8A-4147-A177-3AD203B41FA5}">
                      <a16:colId xmlns:a16="http://schemas.microsoft.com/office/drawing/2014/main" val="4134578403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1821319217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591845132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950792178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1448176176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1626403283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3271012423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621071080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959709177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3260835791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746006744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3222602830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3955854661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1936624834"/>
                    </a:ext>
                  </a:extLst>
                </a:gridCol>
                <a:gridCol w="648596">
                  <a:extLst>
                    <a:ext uri="{9D8B030D-6E8A-4147-A177-3AD203B41FA5}">
                      <a16:colId xmlns:a16="http://schemas.microsoft.com/office/drawing/2014/main" val="625736676"/>
                    </a:ext>
                  </a:extLst>
                </a:gridCol>
              </a:tblGrid>
              <a:tr h="4839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 Learning Outcome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Modul 1 </a:t>
                      </a:r>
                      <a:r>
                        <a:rPr lang="en-ID" sz="1000" dirty="0"/>
                        <a:t>Introduction dan Data Preparation &amp; Exploration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ID" sz="1000" b="1" dirty="0"/>
                        <a:t>Modul 2 </a:t>
                      </a:r>
                      <a:r>
                        <a:rPr lang="en-ID" sz="1000" b="0" dirty="0"/>
                        <a:t>Mathematical Foundations dan </a:t>
                      </a:r>
                      <a:r>
                        <a:rPr lang="en-ID" sz="1000" b="0" dirty="0" err="1"/>
                        <a:t>Evaluasi</a:t>
                      </a:r>
                      <a:r>
                        <a:rPr lang="en-ID" sz="1000" b="0" dirty="0"/>
                        <a:t> Dasar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dirty="0"/>
                        <a:t>Modul 3</a:t>
                      </a:r>
                      <a:r>
                        <a:rPr lang="en-ID" sz="1000" dirty="0"/>
                        <a:t>  Prototyping, NLP &amp; Tuning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UTS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D" sz="1000" b="1" dirty="0"/>
                        <a:t>Modul 3</a:t>
                      </a:r>
                      <a:r>
                        <a:rPr lang="en-ID" sz="1000" dirty="0"/>
                        <a:t>  Prototyping, NLP &amp; Tuning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Modul 4 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Reliability, Lightweight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MLOps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Integration &amp; Showcase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UAS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84605"/>
                  </a:ext>
                </a:extLst>
              </a:tr>
              <a:tr h="857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Meeting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90392"/>
                  </a:ext>
                </a:extLst>
              </a:tr>
              <a:tr h="16283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Output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Mahasiswa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mamou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menganalisis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ruang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masalah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pada domain TRPL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serta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risiko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etika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privasi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dan bias data.</a:t>
                      </a:r>
                    </a:p>
                    <a:p>
                      <a:pPr algn="l" rtl="0" fontAlgn="ctr"/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Mahasiswa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Mampu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menyusun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problem statement, target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metrik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dan pipeline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praproses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awal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membedah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hubungan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fitur</a:t>
                      </a:r>
                      <a:r>
                        <a:rPr lang="en-ID" sz="1000" dirty="0"/>
                        <a:t>-label dan </a:t>
                      </a:r>
                      <a:r>
                        <a:rPr lang="en-ID" sz="1000" dirty="0" err="1"/>
                        <a:t>membandingkan</a:t>
                      </a:r>
                      <a:r>
                        <a:rPr lang="en-ID" sz="1000" dirty="0"/>
                        <a:t> baseline vs model </a:t>
                      </a:r>
                      <a:r>
                        <a:rPr lang="en-ID" sz="1000" dirty="0" err="1"/>
                        <a:t>dasar</a:t>
                      </a:r>
                      <a:r>
                        <a:rPr lang="en-ID" sz="1000" dirty="0"/>
                        <a:t>.</a:t>
                      </a:r>
                    </a:p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mengevaluasi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performa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dengan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metrik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tepat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memilih</a:t>
                      </a:r>
                      <a:r>
                        <a:rPr lang="en-ID" sz="1000" dirty="0"/>
                        <a:t> model </a:t>
                      </a:r>
                      <a:r>
                        <a:rPr lang="en-ID" sz="1000" dirty="0" err="1"/>
                        <a:t>terbaik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beserta</a:t>
                      </a:r>
                      <a:r>
                        <a:rPr lang="en-ID" sz="1000" dirty="0"/>
                        <a:t> trade-off.</a:t>
                      </a:r>
                    </a:p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membangun</a:t>
                      </a:r>
                      <a:r>
                        <a:rPr lang="en-ID" sz="1000" dirty="0"/>
                        <a:t> model </a:t>
                      </a:r>
                      <a:r>
                        <a:rPr lang="en-ID" sz="1000" dirty="0" err="1"/>
                        <a:t>siap</a:t>
                      </a:r>
                      <a:r>
                        <a:rPr lang="en-ID" sz="1000" dirty="0"/>
                        <a:t> inference </a:t>
                      </a:r>
                      <a:r>
                        <a:rPr lang="en-ID" sz="1000" dirty="0" err="1"/>
                        <a:t>dengan</a:t>
                      </a:r>
                      <a:r>
                        <a:rPr lang="en-ID" sz="1000" dirty="0"/>
                        <a:t> feature engineering.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75" marR="2675" marT="267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UTS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mengkreasi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prototipe</a:t>
                      </a:r>
                      <a:r>
                        <a:rPr lang="en-ID" sz="1000" dirty="0"/>
                        <a:t> UI (</a:t>
                      </a:r>
                      <a:r>
                        <a:rPr lang="en-ID" sz="1000" dirty="0" err="1"/>
                        <a:t>Streamlit</a:t>
                      </a:r>
                      <a:r>
                        <a:rPr lang="en-ID" sz="1000" dirty="0"/>
                        <a:t>/</a:t>
                      </a:r>
                      <a:r>
                        <a:rPr lang="en-ID" sz="1000" dirty="0" err="1"/>
                        <a:t>Gradio</a:t>
                      </a:r>
                      <a:r>
                        <a:rPr lang="en-ID" sz="1000" dirty="0"/>
                        <a:t>) yang </a:t>
                      </a:r>
                      <a:r>
                        <a:rPr lang="en-ID" sz="1000" dirty="0" err="1"/>
                        <a:t>memanggil</a:t>
                      </a:r>
                      <a:r>
                        <a:rPr lang="en-ID" sz="1000" dirty="0"/>
                        <a:t> model.</a:t>
                      </a:r>
                    </a:p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menganalisis</a:t>
                      </a:r>
                      <a:r>
                        <a:rPr lang="en-ID" sz="1000" dirty="0"/>
                        <a:t> pipeline </a:t>
                      </a:r>
                      <a:r>
                        <a:rPr lang="en-ID" sz="1000" dirty="0" err="1"/>
                        <a:t>teks</a:t>
                      </a:r>
                      <a:r>
                        <a:rPr lang="en-ID" sz="1000" dirty="0"/>
                        <a:t> dan bottleneck </a:t>
                      </a:r>
                      <a:r>
                        <a:rPr lang="en-ID" sz="1000" dirty="0" err="1"/>
                        <a:t>inferensi</a:t>
                      </a:r>
                      <a:r>
                        <a:rPr lang="en-ID" sz="1000" dirty="0"/>
                        <a:t>/UX.</a:t>
                      </a:r>
                    </a:p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mengevaluasi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hasil</a:t>
                      </a:r>
                      <a:r>
                        <a:rPr lang="en-ID" sz="1000" dirty="0"/>
                        <a:t> tuning hyperparameter dan </a:t>
                      </a:r>
                      <a:r>
                        <a:rPr lang="en-ID" sz="1000" dirty="0" err="1"/>
                        <a:t>memutuskan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konfigurasi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akhir</a:t>
                      </a:r>
                      <a:r>
                        <a:rPr lang="en-ID" sz="1000" dirty="0"/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menganalisis</a:t>
                      </a:r>
                      <a:r>
                        <a:rPr lang="en-ID" sz="1000" dirty="0"/>
                        <a:t> error/drift </a:t>
                      </a:r>
                      <a:r>
                        <a:rPr lang="en-ID" sz="1000" dirty="0" err="1"/>
                        <a:t>serta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mengidentifikasi</a:t>
                      </a:r>
                      <a:r>
                        <a:rPr lang="en-ID" sz="1000" dirty="0"/>
                        <a:t> bias.</a:t>
                      </a:r>
                    </a:p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melakukan</a:t>
                      </a:r>
                      <a:r>
                        <a:rPr lang="en-ID" sz="1000" dirty="0"/>
                        <a:t> quality gate </a:t>
                      </a:r>
                      <a:r>
                        <a:rPr lang="en-ID" sz="1000" dirty="0" err="1"/>
                        <a:t>rilis</a:t>
                      </a:r>
                      <a:r>
                        <a:rPr lang="en-ID" sz="1000" dirty="0"/>
                        <a:t> v0.1 dan </a:t>
                      </a:r>
                      <a:r>
                        <a:rPr lang="en-ID" sz="1000" dirty="0" err="1"/>
                        <a:t>menilai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kesiapan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produk</a:t>
                      </a:r>
                      <a:r>
                        <a:rPr lang="en-ID" sz="1000" dirty="0"/>
                        <a:t>.</a:t>
                      </a:r>
                    </a:p>
                    <a:p>
                      <a:r>
                        <a:rPr lang="en-ID" sz="1000" dirty="0" err="1"/>
                        <a:t>Mahasiswa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mampu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mengemas</a:t>
                      </a:r>
                      <a:r>
                        <a:rPr lang="en-ID" sz="1000" dirty="0"/>
                        <a:t> pipeline inference </a:t>
                      </a:r>
                      <a:r>
                        <a:rPr lang="en-ID" sz="1000" dirty="0" err="1"/>
                        <a:t>reprodusibel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membuat</a:t>
                      </a:r>
                      <a:r>
                        <a:rPr lang="en-ID" sz="1000" dirty="0"/>
                        <a:t> deliverables final </a:t>
                      </a:r>
                      <a:r>
                        <a:rPr lang="en-ID" sz="1000" dirty="0" err="1"/>
                        <a:t>untuk</a:t>
                      </a:r>
                      <a:r>
                        <a:rPr lang="en-ID" sz="1000" dirty="0"/>
                        <a:t> showcase.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UAS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783075"/>
                  </a:ext>
                </a:extLst>
              </a:tr>
              <a:tr h="559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Concept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ID" sz="1000" dirty="0" err="1"/>
                        <a:t>Filosofi</a:t>
                      </a:r>
                      <a:r>
                        <a:rPr lang="en-ID" sz="1000" dirty="0"/>
                        <a:t> &amp; </a:t>
                      </a:r>
                      <a:r>
                        <a:rPr lang="en-ID" sz="1000" dirty="0" err="1"/>
                        <a:t>ruang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lingkup</a:t>
                      </a:r>
                      <a:r>
                        <a:rPr lang="en-ID" sz="1000" dirty="0"/>
                        <a:t> AI; </a:t>
                      </a:r>
                      <a:r>
                        <a:rPr lang="en-ID" sz="1000" dirty="0" err="1"/>
                        <a:t>istilah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kunci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etika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privasi</a:t>
                      </a:r>
                      <a:r>
                        <a:rPr lang="en-ID" sz="1000" dirty="0"/>
                        <a:t>, bias.</a:t>
                      </a:r>
                    </a:p>
                    <a:p>
                      <a:r>
                        <a:rPr lang="en-ID" sz="1000" dirty="0" err="1"/>
                        <a:t>Lisensi</a:t>
                      </a:r>
                      <a:r>
                        <a:rPr lang="en-ID" sz="1000" dirty="0"/>
                        <a:t> data; EDA; feature engineering </a:t>
                      </a:r>
                      <a:r>
                        <a:rPr lang="en-ID" sz="1000" dirty="0" err="1"/>
                        <a:t>dasar</a:t>
                      </a:r>
                      <a:r>
                        <a:rPr lang="en-ID" sz="1000" dirty="0"/>
                        <a:t>; data leakage &amp; </a:t>
                      </a:r>
                      <a:r>
                        <a:rPr lang="en-ID" sz="1000" dirty="0" err="1"/>
                        <a:t>pencegahan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ID" sz="1000" dirty="0" err="1"/>
                        <a:t>Metrik</a:t>
                      </a:r>
                      <a:r>
                        <a:rPr lang="en-ID" sz="1000" dirty="0"/>
                        <a:t>: Accuracy, Precision/Recall/F1, ROC-AUC, MAE/MSE; k-fold </a:t>
                      </a:r>
                      <a:r>
                        <a:rPr lang="en-ID" sz="1000" dirty="0" err="1"/>
                        <a:t>sederhana</a:t>
                      </a:r>
                      <a:r>
                        <a:rPr lang="en-ID" sz="1000" dirty="0"/>
                        <a:t>.</a:t>
                      </a:r>
                    </a:p>
                    <a:p>
                      <a:r>
                        <a:rPr lang="en-ID" sz="1000" dirty="0" err="1"/>
                        <a:t>kNN</a:t>
                      </a:r>
                      <a:r>
                        <a:rPr lang="en-ID" sz="1000" dirty="0"/>
                        <a:t>, Naive Bayes, Decision Tree; </a:t>
                      </a:r>
                      <a:r>
                        <a:rPr lang="en-ID" sz="1000" dirty="0" err="1"/>
                        <a:t>regularisasi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ringan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interpretabilitas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koefisien</a:t>
                      </a:r>
                      <a:r>
                        <a:rPr lang="en-ID" sz="1000" dirty="0"/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75" marR="2675" marT="267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Struktur</a:t>
                      </a:r>
                      <a:r>
                        <a:rPr lang="en-ID" sz="1000" dirty="0"/>
                        <a:t> repo &amp; requirements; </a:t>
                      </a:r>
                      <a:r>
                        <a:rPr lang="en-ID" sz="1000" dirty="0" err="1"/>
                        <a:t>BoW</a:t>
                      </a:r>
                      <a:r>
                        <a:rPr lang="en-ID" sz="1000" dirty="0"/>
                        <a:t>/TF-IDF; grid/random search; k-fold; tracking </a:t>
                      </a:r>
                      <a:r>
                        <a:rPr lang="en-ID" sz="1000" dirty="0" err="1"/>
                        <a:t>hasil</a:t>
                      </a:r>
                      <a:r>
                        <a:rPr lang="en-ID" sz="1000" dirty="0"/>
                        <a:t>; MLP </a:t>
                      </a:r>
                      <a:r>
                        <a:rPr lang="en-ID" sz="1000" dirty="0" err="1"/>
                        <a:t>sklearn</a:t>
                      </a:r>
                      <a:r>
                        <a:rPr lang="en-ID" sz="1000" dirty="0"/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ID" sz="1000" dirty="0"/>
                        <a:t>Error analysis, drift, fairness, privacy by design; </a:t>
                      </a:r>
                      <a:r>
                        <a:rPr lang="en-ID" sz="1000" dirty="0" err="1"/>
                        <a:t>struktur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proyek</a:t>
                      </a:r>
                      <a:r>
                        <a:rPr lang="en-ID" sz="1000" dirty="0"/>
                        <a:t> &amp; versioning </a:t>
                      </a:r>
                      <a:r>
                        <a:rPr lang="en-ID" sz="1000" dirty="0" err="1"/>
                        <a:t>sederhana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integrasi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FastAPI</a:t>
                      </a:r>
                      <a:r>
                        <a:rPr lang="en-ID" sz="1000" dirty="0"/>
                        <a:t>/Flask </a:t>
                      </a:r>
                      <a:r>
                        <a:rPr lang="en-ID" sz="1000" dirty="0" err="1"/>
                        <a:t>atau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langsung</a:t>
                      </a:r>
                      <a:r>
                        <a:rPr lang="en-ID" sz="1000" dirty="0"/>
                        <a:t> UI; storytelling </a:t>
                      </a:r>
                      <a:r>
                        <a:rPr lang="en-ID" sz="1000" dirty="0" err="1"/>
                        <a:t>teknis</a:t>
                      </a:r>
                      <a:r>
                        <a:rPr lang="en-ID" sz="1000" dirty="0"/>
                        <a:t> &amp; </a:t>
                      </a:r>
                      <a:r>
                        <a:rPr lang="en-ID" sz="1000" dirty="0" err="1"/>
                        <a:t>etika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dampak</a:t>
                      </a:r>
                      <a:r>
                        <a:rPr lang="en-ID" sz="1000" dirty="0"/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40662"/>
                  </a:ext>
                </a:extLst>
              </a:tr>
              <a:tr h="16787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Indicators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/>
                        <a:t>Problem &amp; </a:t>
                      </a:r>
                      <a:r>
                        <a:rPr lang="en-ID" sz="1000" dirty="0" err="1"/>
                        <a:t>metrik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relevan</a:t>
                      </a:r>
                      <a:r>
                        <a:rPr lang="en-ID" sz="1000" dirty="0"/>
                        <a:t>; EDA </a:t>
                      </a:r>
                      <a:r>
                        <a:rPr lang="en-ID" sz="1000" dirty="0" err="1"/>
                        <a:t>lengkap</a:t>
                      </a:r>
                      <a:r>
                        <a:rPr lang="en-ID" sz="1000" dirty="0"/>
                        <a:t>; pipeline </a:t>
                      </a:r>
                      <a:r>
                        <a:rPr lang="en-ID" sz="1000" dirty="0" err="1"/>
                        <a:t>praproses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berjalan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desain</a:t>
                      </a:r>
                      <a:r>
                        <a:rPr lang="en-ID" sz="1000" dirty="0"/>
                        <a:t> split valid.</a:t>
                      </a:r>
                    </a:p>
                    <a:p>
                      <a:pPr algn="l" rtl="0" fontAlgn="ctr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dll</a:t>
                      </a: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ID" sz="1000" dirty="0" err="1"/>
                        <a:t>Kenaikan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metrik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atas</a:t>
                      </a:r>
                      <a:r>
                        <a:rPr lang="en-ID" sz="1000" dirty="0"/>
                        <a:t> baseline; </a:t>
                      </a:r>
                      <a:r>
                        <a:rPr lang="en-ID" sz="1000" dirty="0" err="1"/>
                        <a:t>catatan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eksperimen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rapi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interpretasi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koefisien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jelas</a:t>
                      </a:r>
                      <a:r>
                        <a:rPr lang="en-ID" sz="1000" dirty="0"/>
                        <a:t>.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75" marR="2675" marT="267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/>
                        <a:t>UI </a:t>
                      </a:r>
                      <a:r>
                        <a:rPr lang="en-ID" sz="1000" dirty="0" err="1"/>
                        <a:t>menerima</a:t>
                      </a:r>
                      <a:r>
                        <a:rPr lang="en-ID" sz="1000" dirty="0"/>
                        <a:t> input &amp; </a:t>
                      </a:r>
                      <a:r>
                        <a:rPr lang="en-ID" sz="1000" dirty="0" err="1"/>
                        <a:t>keluaran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benar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ada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bukti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perbaikan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dari</a:t>
                      </a:r>
                      <a:r>
                        <a:rPr lang="en-ID" sz="1000" dirty="0"/>
                        <a:t> tuning; </a:t>
                      </a:r>
                      <a:r>
                        <a:rPr lang="en-ID" sz="1000" dirty="0" err="1"/>
                        <a:t>perbandingan</a:t>
                      </a:r>
                      <a:r>
                        <a:rPr lang="en-ID" sz="1000" dirty="0"/>
                        <a:t> MLP </a:t>
                      </a:r>
                      <a:r>
                        <a:rPr lang="en-ID" sz="1000" dirty="0" err="1"/>
                        <a:t>adil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jelas</a:t>
                      </a:r>
                      <a:r>
                        <a:rPr lang="en-ID" sz="1000" dirty="0"/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ID" sz="1000" dirty="0"/>
                        <a:t>Akar </a:t>
                      </a:r>
                      <a:r>
                        <a:rPr lang="en-ID" sz="1000" dirty="0" err="1"/>
                        <a:t>masalah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terpetakan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rencana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aksi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realistis</a:t>
                      </a:r>
                      <a:r>
                        <a:rPr lang="en-ID" sz="1000" dirty="0"/>
                        <a:t>; pipeline inference </a:t>
                      </a:r>
                      <a:r>
                        <a:rPr lang="en-ID" sz="1000" dirty="0" err="1"/>
                        <a:t>berjalan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sesuai</a:t>
                      </a:r>
                      <a:r>
                        <a:rPr lang="en-ID" sz="1000" dirty="0"/>
                        <a:t> README; </a:t>
                      </a:r>
                      <a:r>
                        <a:rPr lang="en-ID" sz="1000" dirty="0" err="1"/>
                        <a:t>alur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input→model→output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utuh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dokumen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lengkap</a:t>
                      </a:r>
                      <a:r>
                        <a:rPr lang="en-ID" sz="1000" dirty="0"/>
                        <a:t>; demo </a:t>
                      </a:r>
                      <a:r>
                        <a:rPr lang="en-ID" sz="1000" dirty="0" err="1"/>
                        <a:t>lancar</a:t>
                      </a:r>
                      <a:r>
                        <a:rPr lang="en-ID" sz="1000" dirty="0"/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232131"/>
                  </a:ext>
                </a:extLst>
              </a:tr>
              <a:tr h="17140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Learning Strategy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Discovery Learning, Problem/Project-Based Learning;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kuliah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singkat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diskusi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kasus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live-coding EDA,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latihan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terarah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Discovery Learning, Problem/Project-Based Learning; Demo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metrik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mini-quiz, live-coding, pair programming,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eksperimen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terstruktur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code review </a:t>
                      </a:r>
                      <a:r>
                        <a:rPr lang="en-ID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singkat</a:t>
                      </a: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75" marR="2675" marT="267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Discovery Learning, Problem/Project-Based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dirty="0"/>
                        <a:t>Workshop </a:t>
                      </a:r>
                      <a:r>
                        <a:rPr lang="en-ID" sz="1000" b="1" dirty="0" err="1"/>
                        <a:t>integrasi</a:t>
                      </a:r>
                      <a:r>
                        <a:rPr lang="en-ID" sz="1000" b="1" dirty="0"/>
                        <a:t>, demo </a:t>
                      </a:r>
                      <a:r>
                        <a:rPr lang="en-ID" sz="1000" b="1" dirty="0" err="1"/>
                        <a:t>cepat</a:t>
                      </a:r>
                      <a:r>
                        <a:rPr lang="en-ID" sz="1000" b="1" dirty="0"/>
                        <a:t>, workshop NLP </a:t>
                      </a:r>
                      <a:r>
                        <a:rPr lang="en-ID" sz="1000" b="1" dirty="0" err="1"/>
                        <a:t>ringan</a:t>
                      </a:r>
                      <a:r>
                        <a:rPr lang="en-ID" sz="1000" b="1" dirty="0"/>
                        <a:t>, </a:t>
                      </a:r>
                      <a:r>
                        <a:rPr lang="en-ID" sz="1000" b="1" dirty="0" err="1"/>
                        <a:t>eksperimen</a:t>
                      </a:r>
                      <a:r>
                        <a:rPr lang="en-ID" sz="1000" b="1" dirty="0"/>
                        <a:t> tuning, </a:t>
                      </a:r>
                      <a:r>
                        <a:rPr lang="en-ID" sz="1000" b="1" dirty="0" err="1"/>
                        <a:t>refleksi</a:t>
                      </a:r>
                      <a:r>
                        <a:rPr lang="en-ID" sz="1000" b="1" dirty="0"/>
                        <a:t> </a:t>
                      </a:r>
                      <a:r>
                        <a:rPr lang="en-ID" sz="1000" b="1" dirty="0" err="1"/>
                        <a:t>hasil</a:t>
                      </a:r>
                      <a:r>
                        <a:rPr lang="en-ID" sz="1000" b="1" dirty="0"/>
                        <a:t>, </a:t>
                      </a:r>
                      <a:r>
                        <a:rPr lang="en-ID" sz="1000" b="1" dirty="0" err="1"/>
                        <a:t>praktikum</a:t>
                      </a:r>
                      <a:r>
                        <a:rPr lang="en-ID" sz="1000" b="1" dirty="0"/>
                        <a:t> MLP.</a:t>
                      </a: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Discovery Learning, Problem/Project-Based </a:t>
                      </a:r>
                    </a:p>
                    <a:p>
                      <a:pPr algn="l" fontAlgn="ctr"/>
                      <a:r>
                        <a:rPr lang="en-ID" sz="1000" b="1" dirty="0" err="1"/>
                        <a:t>Analisis</a:t>
                      </a:r>
                      <a:r>
                        <a:rPr lang="en-ID" sz="1000" b="1" dirty="0"/>
                        <a:t> </a:t>
                      </a:r>
                      <a:r>
                        <a:rPr lang="en-ID" sz="1000" b="1" dirty="0" err="1"/>
                        <a:t>berkelompok</a:t>
                      </a:r>
                      <a:r>
                        <a:rPr lang="en-ID" sz="1000" b="1" dirty="0"/>
                        <a:t> &amp; review </a:t>
                      </a:r>
                      <a:r>
                        <a:rPr lang="en-ID" sz="1000" b="1" dirty="0" err="1"/>
                        <a:t>dosen</a:t>
                      </a:r>
                      <a:r>
                        <a:rPr lang="en-ID" sz="1000" b="1" dirty="0"/>
                        <a:t>; </a:t>
                      </a:r>
                      <a:r>
                        <a:rPr lang="en-ID" sz="1000" b="1" dirty="0" err="1"/>
                        <a:t>praktik</a:t>
                      </a:r>
                      <a:r>
                        <a:rPr lang="en-ID" sz="1000" b="1" dirty="0"/>
                        <a:t> pipeline &amp; </a:t>
                      </a:r>
                      <a:r>
                        <a:rPr lang="en-ID" sz="1000" b="1" dirty="0" err="1"/>
                        <a:t>dokumentasi</a:t>
                      </a:r>
                      <a:r>
                        <a:rPr lang="en-ID" sz="1000" b="1" dirty="0"/>
                        <a:t>; demo </a:t>
                      </a:r>
                      <a:r>
                        <a:rPr lang="en-ID" sz="1000" b="1" dirty="0" err="1"/>
                        <a:t>integrasi</a:t>
                      </a:r>
                      <a:r>
                        <a:rPr lang="en-ID" sz="1000" b="1" dirty="0"/>
                        <a:t> &amp; </a:t>
                      </a:r>
                      <a:r>
                        <a:rPr lang="en-ID" sz="1000" b="1" dirty="0" err="1"/>
                        <a:t>umpan</a:t>
                      </a:r>
                      <a:r>
                        <a:rPr lang="en-ID" sz="1000" b="1" dirty="0"/>
                        <a:t> </a:t>
                      </a:r>
                      <a:r>
                        <a:rPr lang="en-ID" sz="1000" b="1" dirty="0" err="1"/>
                        <a:t>balik</a:t>
                      </a:r>
                      <a:r>
                        <a:rPr lang="en-ID" sz="1000" b="1" dirty="0"/>
                        <a:t>; peer review &amp; dry run; final showcase.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5" marR="2675" marT="26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0404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13397</TotalTime>
  <Words>546</Words>
  <Application>Microsoft Macintosh PowerPoint</Application>
  <PresentationFormat>Widescreen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Tomy Sapari</dc:creator>
  <cp:lastModifiedBy>fiqgant</cp:lastModifiedBy>
  <cp:revision>165</cp:revision>
  <dcterms:created xsi:type="dcterms:W3CDTF">2021-07-05T05:00:44Z</dcterms:created>
  <dcterms:modified xsi:type="dcterms:W3CDTF">2025-09-25T08:46:51Z</dcterms:modified>
</cp:coreProperties>
</file>