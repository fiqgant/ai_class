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C77B4-2F38-4A43-96CA-9854FF13D6E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7265D-3C16-7C46-B591-7962DA66B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48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dan </a:t>
            </a:r>
            <a:r>
              <a:rPr lang="en-US" dirty="0" err="1"/>
              <a:t>beda</a:t>
            </a:r>
            <a:r>
              <a:rPr lang="en-US" dirty="0"/>
              <a:t> </a:t>
            </a:r>
            <a:r>
              <a:rPr lang="en-US" dirty="0" err="1"/>
              <a:t>peletaka</a:t>
            </a:r>
            <a:r>
              <a:rPr lang="en-US" dirty="0"/>
              <a:t> </a:t>
            </a:r>
            <a:r>
              <a:rPr lang="en-US" dirty="0" err="1"/>
              <a:t>kalimat</a:t>
            </a:r>
            <a:r>
              <a:rPr lang="en-US" dirty="0"/>
              <a:t> </a:t>
            </a:r>
            <a:r>
              <a:rPr lang="en-US" dirty="0" err="1"/>
              <a:t>beda</a:t>
            </a:r>
            <a:r>
              <a:rPr lang="en-US" dirty="0"/>
              <a:t> </a:t>
            </a:r>
            <a:r>
              <a:rPr lang="en-US" dirty="0" err="1"/>
              <a:t>makna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265D-3C16-7C46-B591-7962DA66BD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33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EF561-39D1-7BC8-AE69-51139CF2F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6A3DA-12D7-95A2-AC48-173052DD8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9221E6-30E0-81D5-211D-9773BB6E0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Tapi </a:t>
            </a:r>
            <a:r>
              <a:rPr lang="en-US" dirty="0" err="1"/>
              <a:t>bagi</a:t>
            </a:r>
            <a:r>
              <a:rPr lang="en-US" dirty="0"/>
              <a:t> computer </a:t>
            </a:r>
            <a:r>
              <a:rPr lang="en-US" dirty="0" err="1"/>
              <a:t>semuanya</a:t>
            </a:r>
            <a:r>
              <a:rPr lang="en-US" dirty="0"/>
              <a:t> </a:t>
            </a:r>
            <a:r>
              <a:rPr lang="en-US" dirty="0" err="1"/>
              <a:t>hanyalah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angka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907DA-B097-3CE4-B17C-81C67FEE7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265D-3C16-7C46-B591-7962DA66BD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55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39A4C-269F-95CA-57ED-C04C71A45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DD38A-E7C6-A008-A2AB-FB83C91DF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9CEF2-5C5D-23DE-88A7-B4959E286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dan </a:t>
            </a:r>
            <a:r>
              <a:rPr lang="en-US" dirty="0" err="1"/>
              <a:t>beda</a:t>
            </a:r>
            <a:r>
              <a:rPr lang="en-US" dirty="0"/>
              <a:t> </a:t>
            </a:r>
            <a:r>
              <a:rPr lang="en-US" dirty="0" err="1"/>
              <a:t>peletaka</a:t>
            </a:r>
            <a:r>
              <a:rPr lang="en-US" dirty="0"/>
              <a:t> </a:t>
            </a:r>
            <a:r>
              <a:rPr lang="en-US" dirty="0" err="1"/>
              <a:t>kalimat</a:t>
            </a:r>
            <a:r>
              <a:rPr lang="en-US" dirty="0"/>
              <a:t> </a:t>
            </a:r>
            <a:r>
              <a:rPr lang="en-US" dirty="0" err="1"/>
              <a:t>beda</a:t>
            </a:r>
            <a:r>
              <a:rPr lang="en-US" dirty="0"/>
              <a:t> </a:t>
            </a:r>
            <a:r>
              <a:rPr lang="en-US" dirty="0" err="1"/>
              <a:t>makna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7F531-9B68-6EBD-1434-A839F2233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265D-3C16-7C46-B591-7962DA66BD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38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83C5B-845F-964C-F2FE-BD752525D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6FE4D-52AF-A073-929C-B890269A0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E870F-BAF2-4920-3BBC-2588C4E4E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dan </a:t>
            </a:r>
            <a:r>
              <a:rPr lang="en-US" dirty="0" err="1"/>
              <a:t>beda</a:t>
            </a:r>
            <a:r>
              <a:rPr lang="en-US" dirty="0"/>
              <a:t> </a:t>
            </a:r>
            <a:r>
              <a:rPr lang="en-US" dirty="0" err="1"/>
              <a:t>peletaka</a:t>
            </a:r>
            <a:r>
              <a:rPr lang="en-US" dirty="0"/>
              <a:t> </a:t>
            </a:r>
            <a:r>
              <a:rPr lang="en-US" dirty="0" err="1"/>
              <a:t>kalimat</a:t>
            </a:r>
            <a:r>
              <a:rPr lang="en-US" dirty="0"/>
              <a:t> </a:t>
            </a:r>
            <a:r>
              <a:rPr lang="en-US" dirty="0" err="1"/>
              <a:t>beda</a:t>
            </a:r>
            <a:r>
              <a:rPr lang="en-US" dirty="0"/>
              <a:t> </a:t>
            </a:r>
            <a:r>
              <a:rPr lang="en-US" dirty="0" err="1"/>
              <a:t>makna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4D1CF-DF45-02F5-07E3-00909AC13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265D-3C16-7C46-B591-7962DA66BD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77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DBC3-DFB0-FCFF-3C17-CE1992D3D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48372-2CC2-ED59-A931-355108584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CCB80-FC67-8A6D-0F06-DECD457C5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34E82-DF67-BFF0-9EC6-8255472A06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265D-3C16-7C46-B591-7962DA66BD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70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6E931-DBFD-7B7B-817C-291C89019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5801A-D8B3-FF82-6E52-9081D4313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164B4-1320-ECA8-873D-7DDD04ACB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word embedding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dan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0031F-3955-24F9-0BBE-750C094E2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265D-3C16-7C46-B591-7962DA66BD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09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Sekarang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liat</a:t>
            </a:r>
            <a:r>
              <a:rPr lang="en-US" dirty="0"/>
              <a:t> yang paling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tf</a:t>
            </a:r>
            <a:r>
              <a:rPr lang="en-US" dirty="0"/>
              <a:t> </a:t>
            </a:r>
            <a:r>
              <a:rPr lang="en-US" dirty="0" err="1"/>
              <a:t>idf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265D-3C16-7C46-B591-7962DA66BD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68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tahu</a:t>
            </a:r>
            <a:r>
              <a:rPr lang="en-US" dirty="0"/>
              <a:t> </a:t>
            </a:r>
            <a:r>
              <a:rPr lang="en-US" dirty="0" err="1"/>
              <a:t>dokumen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membahas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tersebut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265D-3C16-7C46-B591-7962DA66BD6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396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Hitung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kali kata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disebutkan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dokumen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hasilnya</a:t>
            </a:r>
            <a:r>
              <a:rPr lang="en-US" dirty="0"/>
              <a:t> </a:t>
            </a:r>
            <a:r>
              <a:rPr lang="en-US" dirty="0" err="1"/>
              <a:t>dibagi</a:t>
            </a:r>
            <a:r>
              <a:rPr lang="en-US" dirty="0"/>
              <a:t> ama </a:t>
            </a:r>
            <a:r>
              <a:rPr lang="en-US" dirty="0" err="1"/>
              <a:t>jumlah</a:t>
            </a:r>
            <a:r>
              <a:rPr lang="en-US" dirty="0"/>
              <a:t> kata yang </a:t>
            </a:r>
            <a:r>
              <a:rPr lang="en-US" dirty="0" err="1"/>
              <a:t>ada</a:t>
            </a:r>
            <a:r>
              <a:rPr lang="en-US" dirty="0"/>
              <a:t> di </a:t>
            </a:r>
            <a:r>
              <a:rPr lang="en-US" dirty="0" err="1"/>
              <a:t>dokumen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265D-3C16-7C46-B591-7962DA66BD6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79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dapatlah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term frequency text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dokumen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265D-3C16-7C46-B591-7962DA66BD6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0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Adalah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arti dan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sedikit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265D-3C16-7C46-B591-7962DA66BD6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2928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Kita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mengurangi</a:t>
            </a:r>
            <a:r>
              <a:rPr lang="en-US" dirty="0"/>
              <a:t> impact </a:t>
            </a:r>
            <a:r>
              <a:rPr lang="en-US" dirty="0" err="1"/>
              <a:t>dari</a:t>
            </a:r>
            <a:r>
              <a:rPr lang="en-US" dirty="0"/>
              <a:t> kata </a:t>
            </a:r>
            <a:r>
              <a:rPr lang="en-US" dirty="0" err="1"/>
              <a:t>tersebut</a:t>
            </a:r>
            <a:r>
              <a:rPr lang="en-US" dirty="0"/>
              <a:t> dan </a:t>
            </a:r>
            <a:r>
              <a:rPr lang="en-US" dirty="0" err="1"/>
              <a:t>menaikkan</a:t>
            </a:r>
            <a:r>
              <a:rPr lang="en-US" dirty="0"/>
              <a:t> impact </a:t>
            </a:r>
            <a:r>
              <a:rPr lang="en-US" dirty="0" err="1"/>
              <a:t>dari</a:t>
            </a:r>
            <a:r>
              <a:rPr lang="en-US" dirty="0"/>
              <a:t> kata yang </a:t>
            </a:r>
            <a:r>
              <a:rPr lang="en-US" dirty="0" err="1"/>
              <a:t>jarang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265D-3C16-7C46-B591-7962DA66BD6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93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37610-58FC-5ACD-96B7-BD1FAD6C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1708B-44BD-A3AE-9AEC-C7CA26673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75966A-4E72-1799-4869-CF4D237DA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Jadi </a:t>
            </a:r>
            <a:r>
              <a:rPr lang="en-US" dirty="0" err="1"/>
              <a:t>kita</a:t>
            </a:r>
            <a:r>
              <a:rPr lang="en-US" dirty="0"/>
              <a:t> ga </a:t>
            </a:r>
            <a:r>
              <a:rPr lang="en-US" dirty="0" err="1"/>
              <a:t>hitung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dokumen</a:t>
            </a:r>
            <a:r>
              <a:rPr lang="en-US" dirty="0"/>
              <a:t> </a:t>
            </a:r>
            <a:r>
              <a:rPr lang="en-US" dirty="0" err="1"/>
              <a:t>aja</a:t>
            </a:r>
            <a:r>
              <a:rPr lang="en-US" dirty="0"/>
              <a:t> </a:t>
            </a:r>
            <a:r>
              <a:rPr lang="en-US" dirty="0" err="1"/>
              <a:t>tapi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hitung</a:t>
            </a:r>
            <a:r>
              <a:rPr lang="en-US" dirty="0"/>
              <a:t> </a:t>
            </a:r>
            <a:r>
              <a:rPr lang="en-US" dirty="0" err="1"/>
              <a:t>dokumen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 yang </a:t>
            </a:r>
            <a:r>
              <a:rPr lang="en-US" dirty="0" err="1"/>
              <a:t>kira</a:t>
            </a:r>
            <a:r>
              <a:rPr lang="en-US" dirty="0"/>
              <a:t> </a:t>
            </a:r>
            <a:r>
              <a:rPr lang="en-US" dirty="0" err="1"/>
              <a:t>kira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kata </a:t>
            </a:r>
            <a:r>
              <a:rPr lang="en-US" dirty="0" err="1"/>
              <a:t>tersebut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D6331-3F7B-9F69-D0CB-3DE33D5D0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265D-3C16-7C46-B591-7962DA66BD6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86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Lower score </a:t>
            </a:r>
            <a:r>
              <a:rPr lang="en-US" dirty="0" err="1"/>
              <a:t>menunjukkan</a:t>
            </a:r>
            <a:r>
              <a:rPr lang="en-US" dirty="0"/>
              <a:t> common, higher score </a:t>
            </a:r>
            <a:r>
              <a:rPr lang="en-US" dirty="0" err="1"/>
              <a:t>nunjukkan</a:t>
            </a:r>
            <a:r>
              <a:rPr lang="en-US" dirty="0"/>
              <a:t> rare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265D-3C16-7C46-B591-7962DA66BD6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8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60510-AE3A-8E79-9F24-67D514955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94671-5764-1CDD-63D8-B832B4EF6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21CA4-EDBE-FD50-6043-25463E4C8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C2079-9AAD-BD47-A2CF-B746A717E8D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CDDFD-EC11-3F2D-0225-EE7DE98F3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81BE0-B512-B668-A768-828507A6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1C22-8E65-0349-BD7F-C12AA52ED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532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0BDD0-5DE1-F673-85B2-E3E964DBF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A9100-71D5-821E-85DD-48F8086AD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6E3BE-F52F-76B0-9B31-07C03D1D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C2079-9AAD-BD47-A2CF-B746A717E8D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C6F89-22D6-7A75-B11E-EC6785FF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9CB38-1219-DC85-3387-BD422DC0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1C22-8E65-0349-BD7F-C12AA52ED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55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55F1B-07C8-6BF5-3D0B-C81F67A7B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B053E-D8C2-CE68-E419-0BD09FA32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4E16D-DF62-5DBD-54F6-5D858FDD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C2079-9AAD-BD47-A2CF-B746A717E8D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B2BF-0782-B589-7BAA-4A62DF939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25441-A854-ADA9-5BDF-96E460FC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1C22-8E65-0349-BD7F-C12AA52ED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5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C00A7-D0CA-196C-AE5A-C211333B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41E17-9803-E333-69A1-58A657B818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8CB5F-9CCB-25EC-441E-981B15710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A76A9-2CB2-D5E7-56D5-AEAB7195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C2079-9AAD-BD47-A2CF-B746A717E8D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9B09B-5AF8-7B5F-3EF0-75DC1532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E1B30-28FC-D9DE-F2CA-08D2E8D26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1C22-8E65-0349-BD7F-C12AA52ED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8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9928E-5DD2-5E20-21DA-9385A613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E0770-90C1-CF0D-D512-7037F0DE4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3AE540-6D8D-FE9A-36F4-DCA942306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5C6D69-836D-E2D2-D900-C9FA449EF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060985-DE09-A7E1-02B2-DFC06742EE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A0E63A-E8FF-A392-A5D8-C8852B47F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C2079-9AAD-BD47-A2CF-B746A717E8D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1B2296-0F1E-392C-4B46-77C785FDD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087031-75D9-2385-727F-722B29156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1C22-8E65-0349-BD7F-C12AA52ED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75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D4895-B050-5747-5FDE-7E7E75A2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DE2CC-A921-BED0-18B3-8C9BCCA7C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C2079-9AAD-BD47-A2CF-B746A717E8D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E2CEE-040C-66D6-2957-25F50BDDE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FE60D-21B6-5551-5292-5A413BA76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1C22-8E65-0349-BD7F-C12AA52ED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6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AEAE7E-899F-34D8-8A49-8268C7442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C2079-9AAD-BD47-A2CF-B746A717E8D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2D2CDE-3212-27D1-754A-4BADD3096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D1583-220A-A399-CD67-29A7C92C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1C22-8E65-0349-BD7F-C12AA52ED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9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2F07-C2DA-5FD1-0E48-C47581648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D3274-DC14-87C7-BA2C-85D718BAE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A6F7A-BBBB-4787-1F06-DAD71D994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0A622-4EE4-1050-2377-EC4F93D9E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C2079-9AAD-BD47-A2CF-B746A717E8D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CB531-5B63-C6FA-69ED-2FF86D37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23122-6673-A67C-1A83-BD5C18BBD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1C22-8E65-0349-BD7F-C12AA52ED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19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0CEB3-F60C-B55E-11DA-8929BB203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2932D-B760-3B2C-D5CF-A23CA4ED0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6C482-AB24-C00B-896C-5AA69A6E8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6FFE9-015F-0EB6-EE82-6B64B9C3A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C2079-9AAD-BD47-A2CF-B746A717E8D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347C6-E073-3830-213E-D9D7E3B87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0B3B3-3EF9-2BF7-FAB7-2C12F6B07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1C22-8E65-0349-BD7F-C12AA52ED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8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4969-E6B3-0A66-81FD-E48F41A0F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1A7A8-CAAE-B77B-68AB-F9E774184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8072B-6277-B3B2-3541-CD1ED605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C2079-9AAD-BD47-A2CF-B746A717E8D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2BD86-E7FF-BF10-931A-CF970E495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25F13-3149-3908-D65D-308FDA3DB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1C22-8E65-0349-BD7F-C12AA52ED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85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D48B27-7838-37FE-C6ED-D13CB4183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55E75-2727-A31D-8D2F-820793E2F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1EF12-5C80-328F-EDDE-63D4341E2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C2079-9AAD-BD47-A2CF-B746A717E8D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CEFDB-42B2-C00E-D4DB-148C57849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C275A-E078-3160-5FB9-5CD27B31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1C22-8E65-0349-BD7F-C12AA52ED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56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DC3581-D62C-7595-53ED-24935921E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DAAF9-DC8C-C947-A42F-38D3E0050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1D443-10EF-51A8-BA33-F3B264EC43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2C2079-9AAD-BD47-A2CF-B746A717E8D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7167F-A35A-7D74-1D58-E04611F8E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411C9-1B2B-1284-CD3B-9915334B82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01C22-8E65-0349-BD7F-C12AA52ED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21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96AA7-0C5C-7973-AC40-9E3C9CFE7F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TF IDF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77C51-B1A5-F544-32E3-EDEA4230EA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Taufiqurrahman</a:t>
            </a:r>
          </a:p>
        </p:txBody>
      </p:sp>
    </p:spTree>
    <p:extLst>
      <p:ext uri="{BB962C8B-B14F-4D97-AF65-F5344CB8AC3E}">
        <p14:creationId xmlns:p14="http://schemas.microsoft.com/office/powerpoint/2010/main" val="2462948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10743-554C-BC04-1513-5E725A311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157"/>
            <a:ext cx="10515600" cy="30616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Please </a:t>
            </a:r>
            <a:r>
              <a:rPr lang="en-US" sz="6000" b="1" dirty="0">
                <a:solidFill>
                  <a:srgbClr val="00B0F0"/>
                </a:solidFill>
              </a:rPr>
              <a:t>light</a:t>
            </a:r>
            <a:r>
              <a:rPr lang="en-US" sz="6000" dirty="0"/>
              <a:t> the candle</a:t>
            </a:r>
          </a:p>
          <a:p>
            <a:pPr marL="0" indent="0">
              <a:buNone/>
            </a:pPr>
            <a:r>
              <a:rPr lang="en-US" sz="6000" dirty="0"/>
              <a:t>This suitcase is super </a:t>
            </a:r>
            <a:r>
              <a:rPr lang="en-US" sz="6000" b="1" dirty="0">
                <a:solidFill>
                  <a:srgbClr val="00B0F0"/>
                </a:solidFill>
              </a:rPr>
              <a:t>light</a:t>
            </a:r>
          </a:p>
          <a:p>
            <a:pPr marL="0" indent="0">
              <a:buNone/>
            </a:pPr>
            <a:r>
              <a:rPr lang="en-US" sz="6000" dirty="0"/>
              <a:t>He’s a </a:t>
            </a:r>
            <a:r>
              <a:rPr lang="en-US" sz="6000" b="1" dirty="0">
                <a:solidFill>
                  <a:srgbClr val="00B0F0"/>
                </a:solidFill>
              </a:rPr>
              <a:t>light</a:t>
            </a:r>
            <a:r>
              <a:rPr lang="en-US" sz="6000" dirty="0"/>
              <a:t> sleeper</a:t>
            </a:r>
          </a:p>
        </p:txBody>
      </p:sp>
    </p:spTree>
    <p:extLst>
      <p:ext uri="{BB962C8B-B14F-4D97-AF65-F5344CB8AC3E}">
        <p14:creationId xmlns:p14="http://schemas.microsoft.com/office/powerpoint/2010/main" val="1994236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E173-E759-5947-2965-8AD837776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113FC-D8C3-943F-9AE3-C2F0E5B1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157"/>
            <a:ext cx="10515600" cy="30616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15 | </a:t>
            </a:r>
            <a:r>
              <a:rPr lang="en-US" sz="6000" b="1" dirty="0">
                <a:solidFill>
                  <a:srgbClr val="00B0F0"/>
                </a:solidFill>
              </a:rPr>
              <a:t>9</a:t>
            </a:r>
            <a:r>
              <a:rPr lang="en-US" sz="6000" dirty="0"/>
              <a:t> | 20 | 3</a:t>
            </a:r>
          </a:p>
          <a:p>
            <a:pPr marL="0" indent="0">
              <a:buNone/>
            </a:pPr>
            <a:r>
              <a:rPr lang="en-US" sz="6000" dirty="0"/>
              <a:t>19 | 21 | 8 | 18 | </a:t>
            </a:r>
            <a:r>
              <a:rPr lang="en-US" sz="6000" b="1" dirty="0">
                <a:solidFill>
                  <a:srgbClr val="00B0F0"/>
                </a:solidFill>
              </a:rPr>
              <a:t>9</a:t>
            </a:r>
          </a:p>
          <a:p>
            <a:pPr marL="0" indent="0">
              <a:buNone/>
            </a:pPr>
            <a:r>
              <a:rPr lang="en-US" sz="6000" dirty="0"/>
              <a:t>7 | 1 | </a:t>
            </a:r>
            <a:r>
              <a:rPr lang="en-US" sz="6000" b="1" dirty="0">
                <a:solidFill>
                  <a:srgbClr val="00B0F0"/>
                </a:solidFill>
              </a:rPr>
              <a:t>9</a:t>
            </a:r>
            <a:r>
              <a:rPr lang="en-US" sz="6000" dirty="0"/>
              <a:t> | 17</a:t>
            </a:r>
          </a:p>
        </p:txBody>
      </p:sp>
    </p:spTree>
    <p:extLst>
      <p:ext uri="{BB962C8B-B14F-4D97-AF65-F5344CB8AC3E}">
        <p14:creationId xmlns:p14="http://schemas.microsoft.com/office/powerpoint/2010/main" val="408967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3B315-745A-6C03-6436-46696E60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51812-7B3A-FFB5-82E1-2F2F0AD3C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2133"/>
            <a:ext cx="5751786" cy="20537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Please </a:t>
            </a:r>
            <a:r>
              <a:rPr lang="en-US" sz="3600" b="1" dirty="0">
                <a:solidFill>
                  <a:srgbClr val="00B0F0"/>
                </a:solidFill>
              </a:rPr>
              <a:t>light</a:t>
            </a:r>
            <a:r>
              <a:rPr lang="en-US" sz="3600" dirty="0"/>
              <a:t> the candle</a:t>
            </a:r>
          </a:p>
          <a:p>
            <a:pPr marL="0" indent="0">
              <a:buNone/>
            </a:pPr>
            <a:r>
              <a:rPr lang="en-US" sz="3600" dirty="0"/>
              <a:t>This suitcase is super </a:t>
            </a:r>
            <a:r>
              <a:rPr lang="en-US" sz="3600" b="1" dirty="0">
                <a:solidFill>
                  <a:srgbClr val="00B0F0"/>
                </a:solidFill>
              </a:rPr>
              <a:t>light</a:t>
            </a:r>
          </a:p>
          <a:p>
            <a:pPr marL="0" indent="0">
              <a:buNone/>
            </a:pPr>
            <a:r>
              <a:rPr lang="en-US" sz="3600" dirty="0"/>
              <a:t>He’s a </a:t>
            </a:r>
            <a:r>
              <a:rPr lang="en-US" sz="3600" b="1" dirty="0">
                <a:solidFill>
                  <a:srgbClr val="00B0F0"/>
                </a:solidFill>
              </a:rPr>
              <a:t>light</a:t>
            </a:r>
            <a:r>
              <a:rPr lang="en-US" sz="3600" dirty="0"/>
              <a:t> sleeper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6D1047-174B-66A9-8C0B-0D7EB9FC5958}"/>
              </a:ext>
            </a:extLst>
          </p:cNvPr>
          <p:cNvSpPr txBox="1">
            <a:spLocks/>
          </p:cNvSpPr>
          <p:nvPr/>
        </p:nvSpPr>
        <p:spPr>
          <a:xfrm>
            <a:off x="7241627" y="2402133"/>
            <a:ext cx="4763814" cy="2053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15 | </a:t>
            </a:r>
            <a:r>
              <a:rPr lang="en-US" sz="3600" b="1" dirty="0">
                <a:solidFill>
                  <a:srgbClr val="00B0F0"/>
                </a:solidFill>
              </a:rPr>
              <a:t>9</a:t>
            </a:r>
            <a:r>
              <a:rPr lang="en-US" sz="3600" dirty="0"/>
              <a:t> | 20 | 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19 | 21 | 8 | 18 | </a:t>
            </a:r>
            <a:r>
              <a:rPr lang="en-US" sz="3600" b="1" dirty="0">
                <a:solidFill>
                  <a:srgbClr val="00B0F0"/>
                </a:solidFill>
              </a:rPr>
              <a:t>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7 | 1 | </a:t>
            </a:r>
            <a:r>
              <a:rPr lang="en-US" sz="3600" b="1" dirty="0">
                <a:solidFill>
                  <a:srgbClr val="00B0F0"/>
                </a:solidFill>
              </a:rPr>
              <a:t>9</a:t>
            </a:r>
            <a:r>
              <a:rPr lang="en-US" sz="3600" dirty="0"/>
              <a:t> | 17</a:t>
            </a:r>
          </a:p>
        </p:txBody>
      </p:sp>
    </p:spTree>
    <p:extLst>
      <p:ext uri="{BB962C8B-B14F-4D97-AF65-F5344CB8AC3E}">
        <p14:creationId xmlns:p14="http://schemas.microsoft.com/office/powerpoint/2010/main" val="1373556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BAB4A-1206-8873-A234-BC0C5F3B0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813DA-891C-5003-B5D2-6AFF6DC30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157"/>
            <a:ext cx="10515600" cy="30616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So how can we make the computer know the same word but with a different meaning?</a:t>
            </a:r>
          </a:p>
        </p:txBody>
      </p:sp>
    </p:spTree>
    <p:extLst>
      <p:ext uri="{BB962C8B-B14F-4D97-AF65-F5344CB8AC3E}">
        <p14:creationId xmlns:p14="http://schemas.microsoft.com/office/powerpoint/2010/main" val="1231707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4C3A9-CB84-B453-99BA-6A101594C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3A088-C408-1B31-64EF-2031BF17E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1633"/>
            <a:ext cx="10515600" cy="30616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b="1" dirty="0"/>
              <a:t>Word embedding count vectors</a:t>
            </a:r>
          </a:p>
        </p:txBody>
      </p:sp>
    </p:spTree>
    <p:extLst>
      <p:ext uri="{BB962C8B-B14F-4D97-AF65-F5344CB8AC3E}">
        <p14:creationId xmlns:p14="http://schemas.microsoft.com/office/powerpoint/2010/main" val="2983064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4842FA-E986-4D1B-6A4E-5B123CD5953A}"/>
              </a:ext>
            </a:extLst>
          </p:cNvPr>
          <p:cNvSpPr txBox="1"/>
          <p:nvPr/>
        </p:nvSpPr>
        <p:spPr>
          <a:xfrm>
            <a:off x="3048000" y="2397948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King  = [0.9, 0.1, 0.7, 0.2, 0.5]</a:t>
            </a:r>
          </a:p>
          <a:p>
            <a:r>
              <a:rPr lang="en-US" sz="3200" dirty="0"/>
              <a:t>Queen = [0.8, 0.2, 0.7, 0.3, 0.5]</a:t>
            </a:r>
          </a:p>
          <a:p>
            <a:r>
              <a:rPr lang="en-US" sz="3200" dirty="0"/>
              <a:t>Man   = [0.6, 0.1, 0.2, 0.8, 0.3]</a:t>
            </a:r>
          </a:p>
          <a:p>
            <a:r>
              <a:rPr lang="en-US" sz="3200" dirty="0"/>
              <a:t>Woman = [0.5, 0.2, 0.2, 0.9, 0.3]</a:t>
            </a:r>
          </a:p>
        </p:txBody>
      </p:sp>
    </p:spTree>
    <p:extLst>
      <p:ext uri="{BB962C8B-B14F-4D97-AF65-F5344CB8AC3E}">
        <p14:creationId xmlns:p14="http://schemas.microsoft.com/office/powerpoint/2010/main" val="3425352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B5EAF-4548-F4B1-03FA-5E0E5AE9C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196A58-65F9-1BBE-61EA-D97A3E19069A}"/>
              </a:ext>
            </a:extLst>
          </p:cNvPr>
          <p:cNvSpPr txBox="1"/>
          <p:nvPr/>
        </p:nvSpPr>
        <p:spPr>
          <a:xfrm>
            <a:off x="388882" y="634801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King  = [0.9, 0.1, 0.7, 0.2, 0.5]</a:t>
            </a:r>
          </a:p>
          <a:p>
            <a:r>
              <a:rPr lang="en-US" sz="3200" dirty="0"/>
              <a:t>Queen = [0.8, 0.2, 0.7, 0.3, 0.5]</a:t>
            </a:r>
          </a:p>
          <a:p>
            <a:r>
              <a:rPr lang="en-US" sz="3200" dirty="0"/>
              <a:t>Man   = [0.6, 0.1, 0.2, 0.8, 0.3]</a:t>
            </a:r>
          </a:p>
          <a:p>
            <a:r>
              <a:rPr lang="en-US" sz="3200" dirty="0"/>
              <a:t>Woman = [0.5, 0.2, 0.2, 0.9, 0.3]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4F1C56-7405-ED63-BBCB-30D7295654F5}"/>
              </a:ext>
            </a:extLst>
          </p:cNvPr>
          <p:cNvSpPr txBox="1"/>
          <p:nvPr/>
        </p:nvSpPr>
        <p:spPr>
          <a:xfrm>
            <a:off x="5943599" y="3751118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King  = [0.9, 0.1, 0.7, 0.2, 0.5]</a:t>
            </a:r>
          </a:p>
          <a:p>
            <a:r>
              <a:rPr lang="en-US" sz="3200" dirty="0"/>
              <a:t>Man   = [0.6, 0.1, 0.2, 0.8, 0.3]</a:t>
            </a:r>
          </a:p>
          <a:p>
            <a:endParaRPr lang="en-US" sz="3200" dirty="0"/>
          </a:p>
          <a:p>
            <a:r>
              <a:rPr lang="en-US" sz="3200" dirty="0"/>
              <a:t>Queen = [0.8, 0.2, 0.7, 0.3, 0.5]</a:t>
            </a:r>
          </a:p>
          <a:p>
            <a:r>
              <a:rPr lang="en-US" sz="3200" dirty="0"/>
              <a:t>Woman = [0.5, 0.2, 0.2, 0.9, 0.3]</a:t>
            </a:r>
          </a:p>
        </p:txBody>
      </p:sp>
      <p:sp>
        <p:nvSpPr>
          <p:cNvPr id="2" name="Bent-Up Arrow 1">
            <a:extLst>
              <a:ext uri="{FF2B5EF4-FFF2-40B4-BE49-F238E27FC236}">
                <a16:creationId xmlns:a16="http://schemas.microsoft.com/office/drawing/2014/main" id="{8C12B298-CDE9-036A-E9B7-C030AFEBA934}"/>
              </a:ext>
            </a:extLst>
          </p:cNvPr>
          <p:cNvSpPr/>
          <p:nvPr/>
        </p:nvSpPr>
        <p:spPr>
          <a:xfrm rot="5400000">
            <a:off x="4046483" y="3069021"/>
            <a:ext cx="1566041" cy="1208689"/>
          </a:xfrm>
          <a:prstGeom prst="bentUpArrow">
            <a:avLst>
              <a:gd name="adj1" fmla="val 25000"/>
              <a:gd name="adj2" fmla="val 27174"/>
              <a:gd name="adj3" fmla="val 2673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C5C83-F07B-2ACD-12EB-96AE37D638BF}"/>
              </a:ext>
            </a:extLst>
          </p:cNvPr>
          <p:cNvSpPr txBox="1"/>
          <p:nvPr/>
        </p:nvSpPr>
        <p:spPr>
          <a:xfrm>
            <a:off x="2144110" y="3429000"/>
            <a:ext cx="22387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Capturing their similarities and</a:t>
            </a:r>
          </a:p>
          <a:p>
            <a:r>
              <a:rPr lang="en-US" sz="1800" dirty="0">
                <a:solidFill>
                  <a:srgbClr val="FF0000"/>
                </a:solidFill>
              </a:rPr>
              <a:t>differences</a:t>
            </a:r>
          </a:p>
        </p:txBody>
      </p:sp>
    </p:spTree>
    <p:extLst>
      <p:ext uri="{BB962C8B-B14F-4D97-AF65-F5344CB8AC3E}">
        <p14:creationId xmlns:p14="http://schemas.microsoft.com/office/powerpoint/2010/main" val="3520042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8C2D2-C9CE-BA5C-222E-F00AD61B9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8560B-AD36-BF80-7608-B97A3E359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157"/>
            <a:ext cx="10515600" cy="3061685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6000" dirty="0"/>
              <a:t>One hot encoding</a:t>
            </a:r>
          </a:p>
          <a:p>
            <a:pPr marL="0" indent="0" algn="ctr">
              <a:buNone/>
            </a:pPr>
            <a:r>
              <a:rPr lang="en-US" sz="6000" dirty="0"/>
              <a:t>TF–IDF</a:t>
            </a:r>
          </a:p>
          <a:p>
            <a:pPr marL="0" indent="0" algn="ctr">
              <a:buNone/>
            </a:pPr>
            <a:r>
              <a:rPr lang="en-US" sz="6000" dirty="0"/>
              <a:t>Word2Vec</a:t>
            </a:r>
          </a:p>
          <a:p>
            <a:pPr marL="0" indent="0" algn="ctr">
              <a:buNone/>
            </a:pPr>
            <a:r>
              <a:rPr lang="en-US" sz="6000" dirty="0"/>
              <a:t>BERT</a:t>
            </a:r>
          </a:p>
          <a:p>
            <a:pPr marL="0" indent="0" algn="ctr">
              <a:buNone/>
            </a:pPr>
            <a:r>
              <a:rPr lang="en-US" sz="6000" dirty="0"/>
              <a:t>GPT</a:t>
            </a:r>
          </a:p>
        </p:txBody>
      </p:sp>
    </p:spTree>
    <p:extLst>
      <p:ext uri="{BB962C8B-B14F-4D97-AF65-F5344CB8AC3E}">
        <p14:creationId xmlns:p14="http://schemas.microsoft.com/office/powerpoint/2010/main" val="1974871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B11D99-35A0-F00F-63B1-C170C519D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828706"/>
              </p:ext>
            </p:extLst>
          </p:nvPr>
        </p:nvGraphicFramePr>
        <p:xfrm>
          <a:off x="838200" y="2026920"/>
          <a:ext cx="10515600" cy="28041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580226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168084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042330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3200" b="1"/>
                        <a:t>Count vectors</a:t>
                      </a:r>
                      <a:endParaRPr lang="en-ID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3200" b="1"/>
                        <a:t>Neural networks</a:t>
                      </a:r>
                      <a:endParaRPr lang="en-ID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3200" b="1"/>
                        <a:t>Transformers</a:t>
                      </a:r>
                      <a:endParaRPr lang="en-ID" sz="3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893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3200"/>
                        <a:t>One hot encoding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3200"/>
                        <a:t>Word2Vec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3200"/>
                        <a:t>BERT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550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3200" dirty="0">
                          <a:highlight>
                            <a:srgbClr val="00FFFF"/>
                          </a:highlight>
                        </a:rPr>
                        <a:t>TF–IDF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3200"/>
                        <a:t>GloVe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3200"/>
                        <a:t>GPT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202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3200"/>
                        <a:t>Bag of 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3200"/>
                        <a:t>FastText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3200" dirty="0"/>
                        <a:t>Sentence transformers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714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616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B7B020-E5E1-22FA-6C72-47018E1CF1C6}"/>
              </a:ext>
            </a:extLst>
          </p:cNvPr>
          <p:cNvSpPr txBox="1"/>
          <p:nvPr/>
        </p:nvSpPr>
        <p:spPr>
          <a:xfrm>
            <a:off x="1524000" y="2459504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</a:rPr>
              <a:t>T</a:t>
            </a:r>
            <a:r>
              <a:rPr lang="en-US" sz="6000" b="1" dirty="0"/>
              <a:t>erm </a:t>
            </a:r>
            <a:r>
              <a:rPr lang="en-US" sz="6000" b="1" dirty="0">
                <a:solidFill>
                  <a:srgbClr val="FF0000"/>
                </a:solidFill>
              </a:rPr>
              <a:t>F</a:t>
            </a:r>
            <a:r>
              <a:rPr lang="en-US" sz="6000" b="1" dirty="0"/>
              <a:t>requency-</a:t>
            </a:r>
            <a:r>
              <a:rPr lang="en-US" sz="6000" b="1" dirty="0">
                <a:solidFill>
                  <a:srgbClr val="FF0000"/>
                </a:solidFill>
              </a:rPr>
              <a:t>I</a:t>
            </a:r>
            <a:r>
              <a:rPr lang="en-US" sz="6000" b="1" dirty="0"/>
              <a:t>nverse </a:t>
            </a:r>
            <a:r>
              <a:rPr lang="en-US" sz="6000" b="1" dirty="0">
                <a:solidFill>
                  <a:srgbClr val="FF0000"/>
                </a:solidFill>
              </a:rPr>
              <a:t>D</a:t>
            </a:r>
            <a:r>
              <a:rPr lang="en-US" sz="6000" b="1" dirty="0"/>
              <a:t>ocument </a:t>
            </a:r>
            <a:r>
              <a:rPr lang="en-US" sz="6000" b="1" dirty="0">
                <a:solidFill>
                  <a:srgbClr val="FF0000"/>
                </a:solidFill>
              </a:rPr>
              <a:t>F</a:t>
            </a:r>
            <a:r>
              <a:rPr lang="en-US" sz="6000" b="1" dirty="0"/>
              <a:t>requency</a:t>
            </a:r>
          </a:p>
        </p:txBody>
      </p:sp>
    </p:spTree>
    <p:extLst>
      <p:ext uri="{BB962C8B-B14F-4D97-AF65-F5344CB8AC3E}">
        <p14:creationId xmlns:p14="http://schemas.microsoft.com/office/powerpoint/2010/main" val="4288750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350468-2BCF-1086-862B-D0BEBE010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45" y="2711106"/>
            <a:ext cx="10652309" cy="32225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DACE9F-F87A-112B-DB1E-1F4C59F51147}"/>
              </a:ext>
            </a:extLst>
          </p:cNvPr>
          <p:cNvSpPr txBox="1"/>
          <p:nvPr/>
        </p:nvSpPr>
        <p:spPr>
          <a:xfrm>
            <a:off x="641130" y="1379169"/>
            <a:ext cx="109097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b="1" dirty="0"/>
              <a:t>Method that tell us how important a word is to a document</a:t>
            </a:r>
          </a:p>
        </p:txBody>
      </p:sp>
    </p:spTree>
    <p:extLst>
      <p:ext uri="{BB962C8B-B14F-4D97-AF65-F5344CB8AC3E}">
        <p14:creationId xmlns:p14="http://schemas.microsoft.com/office/powerpoint/2010/main" val="931790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781C4-9312-FE48-43DB-72E228F75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A4D4BB-3E0E-213B-C8C0-6E36F089C9AD}"/>
              </a:ext>
            </a:extLst>
          </p:cNvPr>
          <p:cNvSpPr txBox="1"/>
          <p:nvPr/>
        </p:nvSpPr>
        <p:spPr>
          <a:xfrm>
            <a:off x="1524000" y="2921168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</a:rPr>
              <a:t>Topic Modelling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749432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A5C832-7B2F-E8A8-2A28-417FE2B549BC}"/>
              </a:ext>
            </a:extLst>
          </p:cNvPr>
          <p:cNvSpPr txBox="1"/>
          <p:nvPr/>
        </p:nvSpPr>
        <p:spPr>
          <a:xfrm>
            <a:off x="1597573" y="2127270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📄 Data science  </a:t>
            </a:r>
          </a:p>
          <a:p>
            <a:r>
              <a:rPr lang="en-US" sz="4800" b="1" dirty="0"/>
              <a:t>📄 Tech  </a:t>
            </a:r>
          </a:p>
          <a:p>
            <a:r>
              <a:rPr lang="en-US" sz="4800" b="1" dirty="0"/>
              <a:t>📄 Sports  </a:t>
            </a:r>
          </a:p>
          <a:p>
            <a:r>
              <a:rPr lang="en-US" sz="4800" b="1" dirty="0"/>
              <a:t>📄 Politics</a:t>
            </a:r>
          </a:p>
        </p:txBody>
      </p:sp>
    </p:spTree>
    <p:extLst>
      <p:ext uri="{BB962C8B-B14F-4D97-AF65-F5344CB8AC3E}">
        <p14:creationId xmlns:p14="http://schemas.microsoft.com/office/powerpoint/2010/main" val="3965400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820384-DB2F-7E13-8108-5E450A84C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33" y="720177"/>
            <a:ext cx="11303733" cy="541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56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112399-009E-E4C7-C7DA-377E709B4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039" y="431754"/>
            <a:ext cx="9653921" cy="599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52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C4F6F7-BBB8-1FEC-97A5-E74CEF0826F5}"/>
              </a:ext>
            </a:extLst>
          </p:cNvPr>
          <p:cNvSpPr txBox="1"/>
          <p:nvPr/>
        </p:nvSpPr>
        <p:spPr>
          <a:xfrm>
            <a:off x="1944414" y="1929438"/>
            <a:ext cx="83031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The, is, of, and, but, or, yet, so, because, although  </a:t>
            </a:r>
          </a:p>
          <a:p>
            <a:pPr algn="ctr"/>
            <a:endParaRPr lang="en-US" sz="3600" b="1" dirty="0"/>
          </a:p>
          <a:p>
            <a:pPr algn="ctr"/>
            <a:r>
              <a:rPr lang="en-US" sz="3600" b="1" dirty="0"/>
              <a:t>Low impact words</a:t>
            </a:r>
          </a:p>
        </p:txBody>
      </p:sp>
    </p:spTree>
    <p:extLst>
      <p:ext uri="{BB962C8B-B14F-4D97-AF65-F5344CB8AC3E}">
        <p14:creationId xmlns:p14="http://schemas.microsoft.com/office/powerpoint/2010/main" val="3530816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156557-587B-63D8-9DE5-0CFA49837331}"/>
              </a:ext>
            </a:extLst>
          </p:cNvPr>
          <p:cNvSpPr txBox="1"/>
          <p:nvPr/>
        </p:nvSpPr>
        <p:spPr>
          <a:xfrm>
            <a:off x="2221478" y="1334814"/>
            <a:ext cx="77490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The cat sat on his mat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367FB3-D2EE-4257-87FA-8FE87C14A55A}"/>
              </a:ext>
            </a:extLst>
          </p:cNvPr>
          <p:cNvSpPr txBox="1"/>
          <p:nvPr/>
        </p:nvSpPr>
        <p:spPr>
          <a:xfrm>
            <a:off x="2724019" y="4507523"/>
            <a:ext cx="711367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</a:t>
            </a:r>
            <a:r>
              <a:rPr lang="en-US" sz="6000" b="1" dirty="0"/>
              <a:t> </a:t>
            </a:r>
            <a:r>
              <a:rPr lang="en-US" sz="8000" b="1" dirty="0"/>
              <a:t>cat</a:t>
            </a:r>
            <a:r>
              <a:rPr lang="en-US" sz="6000" b="1" dirty="0"/>
              <a:t> sat </a:t>
            </a:r>
            <a:r>
              <a:rPr lang="en-US" sz="3200" b="1" dirty="0"/>
              <a:t>on</a:t>
            </a:r>
            <a:r>
              <a:rPr lang="en-US" sz="6000" b="1" dirty="0"/>
              <a:t> his mat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ED798610-A8B1-A4A8-FE47-B25319873F04}"/>
              </a:ext>
            </a:extLst>
          </p:cNvPr>
          <p:cNvSpPr/>
          <p:nvPr/>
        </p:nvSpPr>
        <p:spPr>
          <a:xfrm>
            <a:off x="5896303" y="2777359"/>
            <a:ext cx="399393" cy="1303282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19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984FE-5A3C-6867-A822-D50C3DF73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7D5DB4-3288-4473-AED2-378644DEB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8215" y="239064"/>
            <a:ext cx="13008430" cy="53918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CFD299-98A7-63A4-B9AB-FB9FDED7D181}"/>
              </a:ext>
            </a:extLst>
          </p:cNvPr>
          <p:cNvSpPr txBox="1"/>
          <p:nvPr/>
        </p:nvSpPr>
        <p:spPr>
          <a:xfrm>
            <a:off x="2727435" y="5120476"/>
            <a:ext cx="65059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This is our IDF score</a:t>
            </a:r>
          </a:p>
        </p:txBody>
      </p:sp>
    </p:spTree>
    <p:extLst>
      <p:ext uri="{BB962C8B-B14F-4D97-AF65-F5344CB8AC3E}">
        <p14:creationId xmlns:p14="http://schemas.microsoft.com/office/powerpoint/2010/main" val="3425298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FC246A-2E71-6469-0A32-440EBBEF5B82}"/>
              </a:ext>
            </a:extLst>
          </p:cNvPr>
          <p:cNvSpPr txBox="1"/>
          <p:nvPr/>
        </p:nvSpPr>
        <p:spPr>
          <a:xfrm>
            <a:off x="893378" y="302200"/>
            <a:ext cx="103316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docs = ["The cat sat on his mat", "The mat was made of straw"]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D63E9-B4E0-D1B5-1BDD-FF164AFB5365}"/>
              </a:ext>
            </a:extLst>
          </p:cNvPr>
          <p:cNvSpPr txBox="1"/>
          <p:nvPr/>
        </p:nvSpPr>
        <p:spPr>
          <a:xfrm>
            <a:off x="893379" y="894095"/>
            <a:ext cx="84399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calculate_idf</a:t>
            </a:r>
            <a:r>
              <a:rPr lang="en-US" sz="2800" dirty="0"/>
              <a:t>(word, docs)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601B4-C644-FCD8-76CE-A6826583E2DD}"/>
              </a:ext>
            </a:extLst>
          </p:cNvPr>
          <p:cNvSpPr txBox="1"/>
          <p:nvPr/>
        </p:nvSpPr>
        <p:spPr>
          <a:xfrm>
            <a:off x="893379" y="1485990"/>
            <a:ext cx="843995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{</a:t>
            </a:r>
          </a:p>
          <a:p>
            <a:r>
              <a:rPr lang="en-US" sz="2800" dirty="0"/>
              <a:t>    "the": 1.0,</a:t>
            </a:r>
          </a:p>
          <a:p>
            <a:r>
              <a:rPr lang="en-US" sz="2800" dirty="0"/>
              <a:t>    "cat": 1.4,</a:t>
            </a:r>
          </a:p>
          <a:p>
            <a:r>
              <a:rPr lang="en-US" sz="2800" dirty="0"/>
              <a:t>    "sat": 1.4,</a:t>
            </a:r>
          </a:p>
          <a:p>
            <a:r>
              <a:rPr lang="en-US" sz="2800" dirty="0"/>
              <a:t>    "on": 1.4,</a:t>
            </a:r>
          </a:p>
          <a:p>
            <a:r>
              <a:rPr lang="en-US" sz="2800" dirty="0"/>
              <a:t>    "his": 1.4,</a:t>
            </a:r>
          </a:p>
          <a:p>
            <a:r>
              <a:rPr lang="en-US" sz="2800" dirty="0"/>
              <a:t>    "mat": 1.0,</a:t>
            </a:r>
          </a:p>
          <a:p>
            <a:r>
              <a:rPr lang="en-US" sz="2800" dirty="0"/>
              <a:t>    "was": 1.4,</a:t>
            </a:r>
          </a:p>
          <a:p>
            <a:r>
              <a:rPr lang="en-US" sz="2800" dirty="0"/>
              <a:t>    "made": 1.4,</a:t>
            </a:r>
          </a:p>
          <a:p>
            <a:r>
              <a:rPr lang="en-US" sz="2800" dirty="0"/>
              <a:t>    "of": 1.4,</a:t>
            </a:r>
          </a:p>
          <a:p>
            <a:r>
              <a:rPr lang="en-US" sz="2800" dirty="0"/>
              <a:t>    "straw": 1.4</a:t>
            </a:r>
          </a:p>
          <a:p>
            <a:r>
              <a:rPr lang="en-US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732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1A0E2-98B7-F027-A57A-A58AC823D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CC3BC01-CDDE-44A0-7957-6551A71D1958}"/>
              </a:ext>
            </a:extLst>
          </p:cNvPr>
          <p:cNvSpPr txBox="1"/>
          <p:nvPr/>
        </p:nvSpPr>
        <p:spPr>
          <a:xfrm>
            <a:off x="872358" y="797510"/>
            <a:ext cx="271167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{</a:t>
            </a:r>
          </a:p>
          <a:p>
            <a:r>
              <a:rPr lang="en-US" sz="2800" dirty="0"/>
              <a:t>    "the": 1.0,</a:t>
            </a:r>
          </a:p>
          <a:p>
            <a:r>
              <a:rPr lang="en-US" sz="2800" dirty="0"/>
              <a:t>    "cat": 1.4,</a:t>
            </a:r>
          </a:p>
          <a:p>
            <a:r>
              <a:rPr lang="en-US" sz="2800" dirty="0"/>
              <a:t>    "sat": 1.4,</a:t>
            </a:r>
          </a:p>
          <a:p>
            <a:r>
              <a:rPr lang="en-US" sz="2800" dirty="0"/>
              <a:t>    "on": 1.4,</a:t>
            </a:r>
          </a:p>
          <a:p>
            <a:r>
              <a:rPr lang="en-US" sz="2800" dirty="0"/>
              <a:t>    "his": 1.4,</a:t>
            </a:r>
          </a:p>
          <a:p>
            <a:r>
              <a:rPr lang="en-US" sz="2800" dirty="0"/>
              <a:t>    "mat": 1.0,</a:t>
            </a:r>
          </a:p>
          <a:p>
            <a:r>
              <a:rPr lang="en-US" sz="2800" dirty="0"/>
              <a:t>    "was": 1.4,</a:t>
            </a:r>
          </a:p>
          <a:p>
            <a:r>
              <a:rPr lang="en-US" sz="2800" dirty="0"/>
              <a:t>    "made": 1.4,</a:t>
            </a:r>
          </a:p>
          <a:p>
            <a:r>
              <a:rPr lang="en-US" sz="2800" dirty="0"/>
              <a:t>    "of": 1.4,</a:t>
            </a:r>
          </a:p>
          <a:p>
            <a:r>
              <a:rPr lang="en-US" sz="2800" dirty="0"/>
              <a:t>    "straw": 1.4</a:t>
            </a:r>
          </a:p>
          <a:p>
            <a:r>
              <a:rPr lang="en-US" sz="28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B1A152-32C1-EB39-9BF7-1794C37179AF}"/>
              </a:ext>
            </a:extLst>
          </p:cNvPr>
          <p:cNvSpPr txBox="1"/>
          <p:nvPr/>
        </p:nvSpPr>
        <p:spPr>
          <a:xfrm>
            <a:off x="7593723" y="797509"/>
            <a:ext cx="347366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{</a:t>
            </a:r>
          </a:p>
          <a:p>
            <a:r>
              <a:rPr lang="en-US" sz="2800" dirty="0"/>
              <a:t>    "the": "common",</a:t>
            </a:r>
          </a:p>
          <a:p>
            <a:r>
              <a:rPr lang="en-US" sz="2800" dirty="0"/>
              <a:t>    "cat": "rare",</a:t>
            </a:r>
          </a:p>
          <a:p>
            <a:r>
              <a:rPr lang="en-US" sz="2800" dirty="0"/>
              <a:t>    "sat": "rare",</a:t>
            </a:r>
          </a:p>
          <a:p>
            <a:r>
              <a:rPr lang="en-US" sz="2800" dirty="0"/>
              <a:t>    "on": "rare",</a:t>
            </a:r>
          </a:p>
          <a:p>
            <a:r>
              <a:rPr lang="en-US" sz="2800" dirty="0"/>
              <a:t>    "his": "rare",</a:t>
            </a:r>
          </a:p>
          <a:p>
            <a:r>
              <a:rPr lang="en-US" sz="2800" dirty="0"/>
              <a:t>    "mat": "common",</a:t>
            </a:r>
          </a:p>
          <a:p>
            <a:r>
              <a:rPr lang="en-US" sz="2800" dirty="0"/>
              <a:t>    "was": "rare",</a:t>
            </a:r>
          </a:p>
          <a:p>
            <a:r>
              <a:rPr lang="en-US" sz="2800" dirty="0"/>
              <a:t>    "made": "rare",</a:t>
            </a:r>
          </a:p>
          <a:p>
            <a:r>
              <a:rPr lang="en-US" sz="2800" dirty="0"/>
              <a:t>    "of": "rare",</a:t>
            </a:r>
          </a:p>
          <a:p>
            <a:r>
              <a:rPr lang="en-US" sz="2800" dirty="0"/>
              <a:t>    "straw": "rare"</a:t>
            </a:r>
          </a:p>
          <a:p>
            <a:r>
              <a:rPr lang="en-US" sz="2800" dirty="0"/>
              <a:t>}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ED110B95-4723-D929-FBF0-1C8BDCA494CC}"/>
              </a:ext>
            </a:extLst>
          </p:cNvPr>
          <p:cNvSpPr/>
          <p:nvPr/>
        </p:nvSpPr>
        <p:spPr>
          <a:xfrm>
            <a:off x="4487917" y="3268717"/>
            <a:ext cx="2385849" cy="48347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050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20902E-DCB0-404C-A6A3-2957C1330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10" y="898691"/>
            <a:ext cx="10895380" cy="506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572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726</Words>
  <Application>Microsoft Macintosh PowerPoint</Application>
  <PresentationFormat>Widescreen</PresentationFormat>
  <Paragraphs>126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TF IDF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fiqgant</dc:creator>
  <cp:lastModifiedBy>fiqgant</cp:lastModifiedBy>
  <cp:revision>1</cp:revision>
  <dcterms:created xsi:type="dcterms:W3CDTF">2025-12-01T12:40:25Z</dcterms:created>
  <dcterms:modified xsi:type="dcterms:W3CDTF">2025-12-01T13:18:12Z</dcterms:modified>
</cp:coreProperties>
</file>